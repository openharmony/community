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7" r:id="rId3"/>
    <p:sldId id="302" r:id="rId5"/>
    <p:sldId id="309" r:id="rId6"/>
    <p:sldId id="314" r:id="rId7"/>
    <p:sldId id="307" r:id="rId8"/>
    <p:sldId id="304" r:id="rId9"/>
    <p:sldId id="270" r:id="rId10"/>
  </p:sldIdLst>
  <p:sldSz cx="12192000" cy="6858000"/>
  <p:notesSz cx="7103745" cy="102342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3" initials="l" lastIdx="13" clrIdx="0"/>
  <p:cmAuthor id="7" name="1206988966@qq.com" initials="1" lastIdx="1" clrIdx="2"/>
  <p:cmAuthor id="1" name="Liujie (Faunia)" initials="L(" lastIdx="3" clrIdx="0"/>
  <p:cmAuthor id="8" name="姜伟光" initials="姜" lastIdx="1" clrIdx="0"/>
  <p:cmAuthor id="2" name="Tao" initials="T" lastIdx="1" clrIdx="0"/>
  <p:cmAuthor id="3" name="客厅" initials="客厅" lastIdx="1" clrIdx="2"/>
  <p:cmAuthor id="4" name="lenovo" initials="l" lastIdx="1" clrIdx="3"/>
  <p:cmAuthor id="5" name="talkwebcaiwuwu" initials="t" lastIdx="2" clrIdx="4"/>
  <p:cmAuthor id="6" name="ming qiu" initials="m" lastIdx="17" clrIdx="1"/>
  <p:cmAuthor id="76" name="Wurui (Ray)" initials="W(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D41D5"/>
    <a:srgbClr val="31B6FD"/>
    <a:srgbClr val="CDE5FE"/>
    <a:srgbClr val="0070C0"/>
    <a:srgbClr val="0980C5"/>
    <a:srgbClr val="086AA8"/>
    <a:srgbClr val="051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1048952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53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1048954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46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3979D-131D-4DD9-934D-BB722E5FEF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47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48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949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50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02D1D-4786-46F8-8BBB-5CBD7662AA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4864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4858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8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8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9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048591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04859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59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04857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7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7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857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048580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048581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582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hyperlink" Target="https://gitcode.com/openharmony/community/blob/master/sig/sig_devboard/meetings/2025_09_18_meeting.m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hyperlink" Target="https://www.kdocs.cn/l/caDOvSDvqhX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Box 7"/>
          <p:cNvSpPr/>
          <p:nvPr/>
        </p:nvSpPr>
        <p:spPr>
          <a:xfrm>
            <a:off x="2720285" y="2404641"/>
            <a:ext cx="67377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OpenHarmony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主干开发板</a:t>
            </a:r>
            <a:b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wukong100-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阶段性产出汇报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598" name="TextBox 8"/>
          <p:cNvSpPr/>
          <p:nvPr/>
        </p:nvSpPr>
        <p:spPr>
          <a:xfrm>
            <a:off x="4021927" y="4143422"/>
            <a:ext cx="4134465" cy="101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Dev-Board SIG PM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：佘成东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时间：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2026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16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Line 1"/>
          <p:cNvSpPr/>
          <p:nvPr/>
        </p:nvSpPr>
        <p:spPr>
          <a:xfrm>
            <a:off x="325440" y="675596"/>
            <a:ext cx="11681033" cy="1587"/>
          </a:xfrm>
          <a:prstGeom prst="line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/>
            <a:tailEnd type="none"/>
          </a:ln>
        </p:spPr>
        <p:txBody>
          <a:bodyPr lIns="45719" tIns="45719" rIns="45719" bIns="45719" anchor="t"/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658" name="TextBox 15"/>
          <p:cNvSpPr txBox="1"/>
          <p:nvPr/>
        </p:nvSpPr>
        <p:spPr>
          <a:xfrm>
            <a:off x="360680" y="229235"/>
            <a:ext cx="61396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wukong100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共建总体进展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5135" y="757554"/>
            <a:ext cx="11442065" cy="10790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自2025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-09-18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项目立项开始，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WUKONG100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SIG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孵化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合入主干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6.1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LTS-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7.0-Release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持续演进的工作；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共累计提交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756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 ，其中孵化阶段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条，6.1-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7.0-Release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条。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135" y="1642800"/>
            <a:ext cx="11382047" cy="19689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1732"/>
            <a:ext cx="12080944" cy="2934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Line 1"/>
          <p:cNvSpPr/>
          <p:nvPr/>
        </p:nvSpPr>
        <p:spPr>
          <a:xfrm>
            <a:off x="325440" y="675596"/>
            <a:ext cx="11681033" cy="1587"/>
          </a:xfrm>
          <a:prstGeom prst="line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/>
            <a:tailEnd type="none"/>
          </a:ln>
        </p:spPr>
        <p:txBody>
          <a:bodyPr lIns="45719" tIns="45719" rIns="45719" bIns="45719" anchor="t"/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658" name="TextBox 15"/>
          <p:cNvSpPr txBox="1"/>
          <p:nvPr/>
        </p:nvSpPr>
        <p:spPr>
          <a:xfrm>
            <a:off x="360680" y="229235"/>
            <a:ext cx="61396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wukong100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硬件状态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0710" y="969010"/>
          <a:ext cx="10972800" cy="1443990"/>
        </p:xfrm>
        <a:graphic>
          <a:graphicData uri="http://schemas.openxmlformats.org/drawingml/2006/table">
            <a:tbl>
              <a:tblPr/>
              <a:tblGrid>
                <a:gridCol w="874395"/>
                <a:gridCol w="2241550"/>
                <a:gridCol w="1456055"/>
                <a:gridCol w="2630170"/>
                <a:gridCol w="3770630"/>
              </a:tblGrid>
              <a:tr h="5073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硬件整机计划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936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wukong100-</a:t>
                      </a: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锐伟</a:t>
                      </a:r>
                      <a:endParaRPr lang="zh-CN" altLang="en-US" sz="1000" b="1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硬件设计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投板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回板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K5.15+A16</a:t>
                      </a:r>
                      <a:br>
                        <a:rPr lang="en-US" altLang="zh-CN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外设调试完成</a:t>
                      </a:r>
                      <a:endParaRPr lang="zh-CN" altLang="en-US" sz="1000" b="1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识别所有硬件问题，完成硬件改版</a:t>
                      </a:r>
                      <a:b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完成硬件相关的测试并提供测试报告</a:t>
                      </a:r>
                      <a:endParaRPr lang="zh-CN" altLang="en-US" sz="1000" b="1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锁定</a:t>
                      </a:r>
                      <a:r>
                        <a:rPr lang="en-US" altLang="zh-CN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 List</a:t>
                      </a: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及硬件相关材料（原理图，位号图等等）</a:t>
                      </a:r>
                      <a:b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硬件质量达到</a:t>
                      </a:r>
                      <a:r>
                        <a:rPr lang="en-US" altLang="zh-CN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PVT</a:t>
                      </a: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量产标准</a:t>
                      </a:r>
                      <a:b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启动小批量试产</a:t>
                      </a:r>
                      <a:endParaRPr lang="zh-CN" altLang="en-US" sz="1000" b="1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086692" y="2415696"/>
            <a:ext cx="6543161" cy="3957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-Dev-Board SIG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立项会议后，锐伟启动硬件设计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确认板卡的硬件规格书。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完成硬件设计审核并投板。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完成了首批硬件回板。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完成大部分安卓系统开发。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调拨硬件给到各家共建伙伴。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锁定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，硬件状态达到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PVT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阶段，启动小批量试产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释放所有硬件资料给到入围厂商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9121" y="6490753"/>
            <a:ext cx="8860866" cy="3672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1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硬件开发主导与协作会议纪要：</a:t>
            </a:r>
            <a:r>
              <a:rPr lang="en-US" altLang="zh-C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 action="ppaction://hlinkfile"/>
              </a:rPr>
              <a:t>https://gitcode.com/openharmony/community/blob/master/sig/sig_devboard/meetings/2025_09_18_meeting.md</a:t>
            </a:r>
            <a:b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" y="2497030"/>
            <a:ext cx="4119127" cy="36976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Line 1"/>
          <p:cNvSpPr/>
          <p:nvPr/>
        </p:nvSpPr>
        <p:spPr>
          <a:xfrm>
            <a:off x="325440" y="675596"/>
            <a:ext cx="11681033" cy="1587"/>
          </a:xfrm>
          <a:prstGeom prst="line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/>
            <a:tailEnd type="none"/>
          </a:ln>
        </p:spPr>
        <p:txBody>
          <a:bodyPr lIns="45719" tIns="45719" rIns="45719" bIns="45719" anchor="t"/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658" name="TextBox 15"/>
          <p:cNvSpPr txBox="1"/>
          <p:nvPr/>
        </p:nvSpPr>
        <p:spPr>
          <a:xfrm>
            <a:off x="360680" y="229235"/>
            <a:ext cx="61396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wukong100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共建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PR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热力图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2790" y="5480926"/>
            <a:ext cx="11119455" cy="985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投入持续性：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参与周期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较长，覆盖项目孵化及后续版本演进阶段；移远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润开鸿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硬开鸿在孵化后基本结束人力投入。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看投入峰值：2026.03 为集中适配孵化高峰；2026.06-07 体现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维护压力。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794" y="738996"/>
            <a:ext cx="11562323" cy="4485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Line 1"/>
          <p:cNvSpPr/>
          <p:nvPr/>
        </p:nvSpPr>
        <p:spPr>
          <a:xfrm>
            <a:off x="325440" y="675596"/>
            <a:ext cx="11681033" cy="1587"/>
          </a:xfrm>
          <a:prstGeom prst="line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/>
            <a:tailEnd type="none"/>
          </a:ln>
        </p:spPr>
        <p:txBody>
          <a:bodyPr lIns="45719" tIns="45719" rIns="45719" bIns="45719" anchor="t"/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658" name="TextBox 15"/>
          <p:cNvSpPr txBox="1"/>
          <p:nvPr/>
        </p:nvSpPr>
        <p:spPr>
          <a:xfrm>
            <a:off x="360680" y="229235"/>
            <a:ext cx="61396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wukong100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共建领域及功能交付情况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12432" y="5809095"/>
            <a:ext cx="4214271" cy="51540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【金山文档 |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WPS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云文档】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WUKONG100_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共建数据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200" dirty="0">
                <a:hlinkClick r:id="rId1"/>
              </a:rPr>
              <a:t>https://www.kdocs.cn/l/caDOvSDvqhX1</a:t>
            </a:r>
            <a:br>
              <a:rPr lang="en-US" altLang="zh-CN" sz="1200" dirty="0"/>
            </a:br>
            <a:endParaRPr lang="en-US" altLang="zh-CN"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325440" y="5101115"/>
            <a:ext cx="8062948" cy="16884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重点风险</a:t>
            </a:r>
            <a:r>
              <a:rPr 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：</a:t>
            </a:r>
            <a:endParaRPr 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硬开鸿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】</a:t>
            </a:r>
            <a:r>
              <a:rPr 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TEE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整体功能未能如期交付，现需要调拨资源重新调试，同时完成开源合规整改；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硬开鸿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移远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】</a:t>
            </a:r>
            <a:r>
              <a:rPr 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GPU/4G/5G </a:t>
            </a:r>
            <a:r>
              <a:rPr lang="en-US" sz="1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基础可用但不可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二次调试，需要解决闭源库问题；</a:t>
            </a:r>
            <a:endParaRPr 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中科鸿略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】</a:t>
            </a:r>
            <a:r>
              <a:rPr 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Camera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基础效果不达标，仍复用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5.0.3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旧的架构方案，不匹配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6.1.0 LTS camera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应用的能力，同时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HAL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层被责任田闭源，影响调试并阻塞商用。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365456" y="675596"/>
          <a:ext cx="11422485" cy="4347560"/>
        </p:xfrm>
        <a:graphic>
          <a:graphicData uri="http://schemas.openxmlformats.org/drawingml/2006/table">
            <a:tbl>
              <a:tblPr/>
              <a:tblGrid>
                <a:gridCol w="1703900"/>
                <a:gridCol w="1488986"/>
                <a:gridCol w="1675488"/>
                <a:gridCol w="6554111"/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责任田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功能完成情况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开发者可使用状态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2098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SIG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5.15</a:t>
                      </a:r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内核移植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GNSS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Sensor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以太网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LCD/touch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星闪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6.6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内核升级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润开鸿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vendor</a:t>
                      </a:r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适配仅对共建开放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WIFI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NPU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硬开鸿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GPU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基础功能可用，相关代码责任田以闭源库形式提交，源码暂存在共建伙伴私仓，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但仍需做开源整改</a:t>
                      </a:r>
                      <a:endParaRPr lang="zh-CN" altLang="en-US" sz="1100" b="1" i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TEE</a:t>
                      </a:r>
                      <a:endParaRPr lang="en-US" altLang="zh-CN" sz="11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调试未完成，功能未通过验收</a:t>
                      </a:r>
                      <a:endParaRPr lang="zh-CN" altLang="en-US" sz="11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4G/5G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基础功能可用，相关代码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责任田以闭源库形式提交</a:t>
                      </a:r>
                      <a:endParaRPr lang="zh-CN" altLang="en-US" sz="1100" b="1" i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中科鸿略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Audio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7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</a:pPr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amera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</a:pPr>
                      <a:r>
                        <a:rPr lang="zh-CN" altLang="en-US" sz="11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未完成</a:t>
                      </a:r>
                      <a:endParaRPr lang="zh-CN" altLang="en-US" sz="11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</a:pPr>
                      <a:r>
                        <a:rPr lang="en-US" altLang="zh-CN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基础功能可使用，效果不达标，阻塞商用</a:t>
                      </a:r>
                      <a:b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开发者及共建</a:t>
                      </a:r>
                      <a:r>
                        <a:rPr lang="en-US" altLang="zh-CN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ISV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伙伴无法进行二次开发，整个</a:t>
                      </a:r>
                      <a:r>
                        <a:rPr lang="en-US" altLang="zh-CN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HAL</a:t>
                      </a:r>
                      <a:r>
                        <a:rPr lang="zh-CN" altLang="en-US" sz="11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层闭源且不可溯源</a:t>
                      </a:r>
                      <a:endParaRPr lang="zh-CN" altLang="en-US" sz="1100" b="1" i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安全启动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诚迈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Video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完全开放</a:t>
                      </a:r>
                      <a:endParaRPr lang="zh-CN" altLang="en-US" sz="11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Line 1"/>
          <p:cNvSpPr/>
          <p:nvPr/>
        </p:nvSpPr>
        <p:spPr>
          <a:xfrm>
            <a:off x="325440" y="675596"/>
            <a:ext cx="11681033" cy="1587"/>
          </a:xfrm>
          <a:prstGeom prst="line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/>
            <a:tailEnd type="none"/>
          </a:ln>
        </p:spPr>
        <p:txBody>
          <a:bodyPr lIns="45719" tIns="45719" rIns="45719" bIns="45719" anchor="t"/>
          <a:lstStyle/>
          <a:p>
            <a:pPr lvl="0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8658" name="TextBox 15"/>
          <p:cNvSpPr txBox="1"/>
          <p:nvPr/>
        </p:nvSpPr>
        <p:spPr>
          <a:xfrm>
            <a:off x="360680" y="229235"/>
            <a:ext cx="613962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wukong100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功能交付遗留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 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46234" y="847989"/>
          <a:ext cx="11512147" cy="5854673"/>
        </p:xfrm>
        <a:graphic>
          <a:graphicData uri="http://schemas.openxmlformats.org/drawingml/2006/table">
            <a:tbl>
              <a:tblPr/>
              <a:tblGrid>
                <a:gridCol w="1672765"/>
                <a:gridCol w="5137327"/>
                <a:gridCol w="4702055"/>
              </a:tblGrid>
              <a:tr h="3446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遗留项</a:t>
                      </a:r>
                      <a:endParaRPr lang="zh-CN" altLang="en-US" sz="14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4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zh-CN" altLang="en-US" sz="14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82937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TEE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（硬开鸿）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月份开始调试至今未上库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，社区要求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930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之前必须合入。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已由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SIG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承接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，重新和交大、社区启动开发，</a:t>
                      </a:r>
                      <a:r>
                        <a:rPr lang="zh-CN" altLang="en-US" sz="1400" b="0" i="0" dirty="0">
                          <a:solidFill>
                            <a:srgbClr val="1D41D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计划可在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930之前交付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板卡功能缺失，影响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RK3568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开发板下线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，否则社区无板卡承载</a:t>
                      </a:r>
                      <a:r>
                        <a:rPr lang="en-US" altLang="zh-CN" sz="14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OpenTrustee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特性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942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GPU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（硬开鸿）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月份开始整改至今未上库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，社区要求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1030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之前必须合入。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已由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SIG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承接，按计划可在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1030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之前交付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基础功能可使用，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无法调试</a:t>
                      </a:r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，影响开发者二次开发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950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Modem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（移远）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展锐 </a:t>
                      </a:r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RIL </a:t>
                      </a:r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适配层以</a:t>
                      </a:r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</a:t>
                      </a:r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闭源库存在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基础功能可使用，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无法调试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，影响开发者二次开发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285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Camera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（中科鸿略）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后摄效果偏红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Camera HAL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适配层代码以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闭源库存在</a:t>
                      </a:r>
                      <a:b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20+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无法优化相机效果，无法调试</a:t>
                      </a: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HAL</a:t>
                      </a:r>
                      <a:r>
                        <a:rPr lang="zh-CN" altLang="en-US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适配层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，影响开发者及商用项目的二次开发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37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Kernel 6.6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SIG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5.15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内核已支持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LTS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7.0 Release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发布，为了支持社区内核维护，需要切换到</a:t>
                      </a:r>
                      <a:r>
                        <a:rPr lang="en-US" altLang="zh-CN" sz="14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linux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6.6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6.6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内核切换已由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SIG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承接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，当前基于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6.1 LTS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完成功能验证、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XTS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TDD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、性能专项验证，结果满足版本出口。目前基于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master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验证中，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按计划可于</a:t>
                      </a:r>
                      <a:r>
                        <a:rPr lang="en-US" altLang="zh-CN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930</a:t>
                      </a:r>
                      <a:r>
                        <a:rPr lang="zh-CN" altLang="en-US" sz="1400" b="0" i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前完成切换并上库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影响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RK3568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开发板下线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，否则社区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6.6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内核处于空跑状态，无法维护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 fontAlgn="ctr">
                        <a:buNone/>
                      </a:pP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17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硬件侧（锐伟）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提供的原理图的元器件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value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没有值，都是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NC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，最终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value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值需要从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BOM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中查找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虽提供的材料与展锐仿真一致，也不影响试产，但会导致其他厂家不方便校对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BOM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，无法优化</a:t>
                      </a: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PCB</a:t>
                      </a:r>
                      <a:r>
                        <a:rPr lang="zh-CN" altLang="en-US" sz="14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等工作。</a:t>
                      </a:r>
                      <a:endParaRPr lang="zh-CN" altLang="en-US" sz="14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097196" name="图像" descr="C:/Users/coolzlay/AppData/Local/Temp/picturecompress_20210811080536/output_1.jpgoutput_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540" y="-34290"/>
            <a:ext cx="12194540" cy="6927215"/>
          </a:xfrm>
          <a:prstGeom prst="rect">
            <a:avLst/>
          </a:prstGeom>
          <a:ln w="3175">
            <a:miter lim="400000"/>
            <a:headEnd/>
            <a:tailEnd/>
          </a:ln>
        </p:spPr>
      </p:pic>
      <p:sp>
        <p:nvSpPr>
          <p:cNvPr id="1048870" name="文本框 7"/>
          <p:cNvSpPr txBox="1"/>
          <p:nvPr/>
        </p:nvSpPr>
        <p:spPr>
          <a:xfrm>
            <a:off x="3443322" y="2276235"/>
            <a:ext cx="4635147" cy="123883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none" lIns="28210" tIns="28210" rIns="28210" bIns="28210" numCol="1" spcCol="38100" rtlCol="0" anchor="ctr">
            <a:spAutoFit/>
          </a:bodyPr>
          <a:lstStyle/>
          <a:p>
            <a:pPr algn="ctr" defTabSz="610870" hangingPunct="0">
              <a:lnSpc>
                <a:spcPct val="160000"/>
              </a:lnSpc>
            </a:pPr>
            <a:r>
              <a:rPr lang="zh-CN" altLang="en-US" sz="4800" spc="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拥抱开源新时代</a:t>
            </a:r>
            <a:endParaRPr lang="zh-CN" altLang="en-US" sz="4800" spc="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60*379"/>
  <p:tag name="TABLE_ENDDRAG_RECT" val="28*66*760*379"/>
</p:tagLst>
</file>

<file path=ppt/tags/tag2.xml><?xml version="1.0" encoding="utf-8"?>
<p:tagLst xmlns:p="http://schemas.openxmlformats.org/presentationml/2006/main">
  <p:tag name="TABLE_ENDDRAG_ORIGIN_RECT" val="837*229"/>
  <p:tag name="TABLE_ENDDRAG_RECT" val="55*114*837*22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波形">
      <a:fillStyleLst>
        <a:solidFill>
          <a:schemeClr val="phClr"/>
        </a:solidFill>
        <a:gradFill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</a:gradFill>
        <a:blipFill rotWithShape="1">
          <a:blip xmlns:r="http://schemas.openxmlformats.org/officeDocument/2006/relationships" r:embed="rId1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演示</Application>
  <PresentationFormat>宽屏</PresentationFormat>
  <Paragraphs>262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Symbol</vt:lpstr>
      <vt:lpstr>微软雅黑</vt:lpstr>
      <vt:lpstr>Calibri</vt:lpstr>
      <vt:lpstr>微软雅黑</vt:lpstr>
      <vt:lpstr>Candara</vt:lpstr>
      <vt:lpstr>Arial Unicode MS</vt:lpstr>
      <vt:lpstr>波形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Mr.Seven</dc:creator>
  <cp:lastModifiedBy>佘成东</cp:lastModifiedBy>
  <cp:revision>218</cp:revision>
  <dcterms:created xsi:type="dcterms:W3CDTF">2025-01-10T07:49:00Z</dcterms:created>
  <dcterms:modified xsi:type="dcterms:W3CDTF">2026-09-17T11:58:43Z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E370CCB837E4419B9F6C4F4F5B357C84_13</vt:lpwstr>
  </property>
  <property fmtid="{D5CDD505-2E9C-101B-9397-08002B2CF9AE}" pid="4" name="_2015_ms_pID_725343">
    <vt:lpwstr>(3)t7rJJ0qjKWi+GYkxQc7Df+z1w9RhZYwScYNnmwrABogDvqHAE89tSyx0BgzzgQBkbv8whoyQ
7fEXztDvdrjZ4pjbZ6SHOGKJt/LtRExRET/G9kR4KikodQJlNM03pM1WTERZFsn9ND7BFncT
6N2zc2pWFm7O+8OWHzwu5niv+0VnmeLO7BJ+4zlDxWIVFPZHLGypYcc09p5RjOahJqbLME5Y
ULHL1uHdWz41Hn05wZ</vt:lpwstr>
  </property>
  <property fmtid="{D5CDD505-2E9C-101B-9397-08002B2CF9AE}" pid="5" name="_2015_ms_pID_7253431">
    <vt:lpwstr>pqgZhg41qs2OPq5/2thp336I03nlbsNHTxY8jaZCQOEEsYUAmI0zEd
9xQT/4Iq/OnbaGHlv2YI6uKIPdoqdgL9/GibijCtSd82BLJz2nRRyaQ+R+EL+0sc3nNSDqft
y3NbMnDTcSUHv4tbLypiuLxiCmKlkonoOZmZ7pWkbRCKO0DEXI+V6uedxIbkVU/EE0W//6fK
hw1L76vaadfocwNfxjMRd95jNZryNYHQQImR</vt:lpwstr>
  </property>
  <property fmtid="{D5CDD505-2E9C-101B-9397-08002B2CF9AE}" pid="6" name="_2015_ms_pID_7253432">
    <vt:lpwstr>rA==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1690447565</vt:lpwstr>
  </property>
</Properties>
</file>